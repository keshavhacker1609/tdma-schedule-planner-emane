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task in one sentence: plan collision-free time slots for radios sharing one frequency, reuse slots where radios are far apart, and enforce the schedule in EMANE.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TDMA: one frequency, radios take turns. Close radios must not share a slot; far radios can. The goal is the shortest repeating frame with no collisions. Mention that the minimum is NP-hard so heuristics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and C cannot hear each other but both reach B, so their frames collide at B. A one-hop rule misses this. This is the hidden-terminal problem and the reason for distance-2 colouring.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keeps the best colouring so far. The clique lower bound tells us when we are provably optimal. Be ready to explain DSATUR (colour the vertex that sees most distinct neighbour colours), TabuCol (fix k = best-1 colours, move conflicting nodes, tabu list), and the exact 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verifier shares no code with the optimizer, so a bug cannot hide itself. Mention 29 tests: boundary at exactly 500 m, isolated nodes, full mesh, 40 random topologies, bad input, CLI.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grid reaches the lower bound of 9, so it cannot be improved. Slot 0 carries four radios at once. Point at colours in the figure: same colour means same slot.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only link between the parts and contains no scheduling logic; it also refuses to export a schedule that breaks the two-hop rule. One container, one namespace per radio.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node transmits in its colour's slot and listens in every other slot. Nodes with the same colour appear in one nodes list: that is spatial reuse expressed in EMANE's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run on EMANE 1.5.3. 120 of 120 pairs behaved per the 500 m topology at 10 ms slots. Under 16 simultaneous flows the distance-2 schedule lost 0.8 percent against 43.1 percent for the naive one. At 1 ms slots, laptop containers without realtime scheduling miss slot boundaries: 92 of 120. Say this openly.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to discuss each of these: writing configuration from documentation was not enough; EMANE rejected it several times and each failure was fixed.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you understand the model's boundaries: unit-disk range, equal airtime, static positions, clique bound not always tight.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run the CLI on the grid, 2) show matrix and slot reuse, 3) show slot_sim comparison, 4) show bridge output, 5) show EMANE log. Keep a recorded fallback in case Docker is slow.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97280"/>
          </a:xfrm>
          <a:prstGeom prst="rect">
            <a:avLst/>
          </a:prstGeom>
          <a:noFill/>
        </p:spPr>
        <p:txBody>
          <a:bodyPr wrap="square" anchor="t">
            <a:spAutoFit/>
          </a:bodyPr>
          <a:lstStyle/>
          <a:p>
            <a:pPr algn="l">
              <a:spcAft>
                <a:spcPts val="600"/>
              </a:spcAft>
            </a:pPr>
            <a:r>
              <a:rPr sz="4400" b="1">
                <a:solidFill>
                  <a:srgbClr val="FFFFFF"/>
                </a:solidFill>
                <a:latin typeface="Calibri"/>
              </a:rPr>
              <a:t>TDMA Schedule Planner and Optimizer</a:t>
            </a:r>
          </a:p>
        </p:txBody>
      </p:sp>
      <p:sp>
        <p:nvSpPr>
          <p:cNvPr id="4" name="TextBox 3"/>
          <p:cNvSpPr txBox="1"/>
          <p:nvPr/>
        </p:nvSpPr>
        <p:spPr>
          <a:xfrm>
            <a:off x="822960" y="2926080"/>
            <a:ext cx="10515600" cy="731520"/>
          </a:xfrm>
          <a:prstGeom prst="rect">
            <a:avLst/>
          </a:prstGeom>
          <a:noFill/>
        </p:spPr>
        <p:txBody>
          <a:bodyPr wrap="square" anchor="t">
            <a:spAutoFit/>
          </a:bodyPr>
          <a:lstStyle/>
          <a:p>
            <a:pPr algn="l">
              <a:spcAft>
                <a:spcPts val="600"/>
              </a:spcAft>
            </a:pPr>
            <a:r>
              <a:rPr sz="2400" b="0">
                <a:solidFill>
                  <a:srgbClr val="C5D5F0"/>
                </a:solidFill>
                <a:latin typeface="Calibri"/>
              </a:rPr>
              <a:t>Distance-2 graph colouring with EMANE integration</a:t>
            </a:r>
          </a:p>
        </p:txBody>
      </p:sp>
      <p:sp>
        <p:nvSpPr>
          <p:cNvPr id="5" name="TextBox 4"/>
          <p:cNvSpPr txBox="1"/>
          <p:nvPr/>
        </p:nvSpPr>
        <p:spPr>
          <a:xfrm>
            <a:off x="822960" y="4754880"/>
            <a:ext cx="10515600" cy="457200"/>
          </a:xfrm>
          <a:prstGeom prst="rect">
            <a:avLst/>
          </a:prstGeom>
          <a:noFill/>
        </p:spPr>
        <p:txBody>
          <a:bodyPr wrap="square" anchor="t">
            <a:spAutoFit/>
          </a:bodyPr>
          <a:lstStyle/>
          <a:p>
            <a:pPr algn="l">
              <a:spcAft>
                <a:spcPts val="600"/>
              </a:spcAft>
            </a:pPr>
            <a:r>
              <a:rPr sz="1600" b="0">
                <a:solidFill>
                  <a:srgbClr val="C5D5F0"/>
                </a:solidFill>
                <a:latin typeface="Calibri"/>
              </a:rPr>
              <a:t>Keshav Singla  |  Wireless Protocol Development Internship task  |  Vaan Megam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The problem</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2</a:t>
            </a:r>
          </a:p>
        </p:txBody>
      </p:sp>
      <p:sp>
        <p:nvSpPr>
          <p:cNvPr id="5" name="TextBox 4"/>
          <p:cNvSpPr txBox="1"/>
          <p:nvPr/>
        </p:nvSpPr>
        <p:spPr>
          <a:xfrm>
            <a:off x="640080" y="1371600"/>
            <a:ext cx="6675120" cy="3200400"/>
          </a:xfrm>
          <a:prstGeom prst="rect">
            <a:avLst/>
          </a:prstGeom>
          <a:noFill/>
        </p:spPr>
        <p:txBody>
          <a:bodyPr wrap="square">
            <a:spAutoFit/>
          </a:bodyPr>
          <a:lstStyle/>
          <a:p>
            <a:pPr>
              <a:spcAft>
                <a:spcPts val="1000"/>
              </a:spcAft>
            </a:pPr>
            <a:r>
              <a:rPr sz="2000">
                <a:solidFill>
                  <a:srgbClr val="495057"/>
                </a:solidFill>
                <a:latin typeface="Calibri"/>
              </a:rPr>
              <a:t>•  Radios share one frequency and transmit in numbered time slots</a:t>
            </a:r>
          </a:p>
          <a:p>
            <a:pPr>
              <a:spcAft>
                <a:spcPts val="1000"/>
              </a:spcAft>
            </a:pPr>
            <a:r>
              <a:rPr sz="2000">
                <a:solidFill>
                  <a:srgbClr val="495057"/>
                </a:solidFill>
                <a:latin typeface="Calibri"/>
              </a:rPr>
              <a:t>•  Radios close together must use different slots, or they interfere</a:t>
            </a:r>
          </a:p>
          <a:p>
            <a:pPr>
              <a:spcAft>
                <a:spcPts val="1000"/>
              </a:spcAft>
            </a:pPr>
            <a:r>
              <a:rPr sz="2000">
                <a:solidFill>
                  <a:srgbClr val="495057"/>
                </a:solidFill>
                <a:latin typeface="Calibri"/>
              </a:rPr>
              <a:t>•  Radios far apart may reuse a slot: spatial reuse</a:t>
            </a:r>
          </a:p>
          <a:p>
            <a:pPr>
              <a:spcAft>
                <a:spcPts val="1000"/>
              </a:spcAft>
            </a:pPr>
            <a:r>
              <a:rPr sz="2000">
                <a:solidFill>
                  <a:srgbClr val="495057"/>
                </a:solidFill>
                <a:latin typeface="Calibri"/>
              </a:rPr>
              <a:t>•  Goal: fewest slots per frame, zero collisions</a:t>
            </a:r>
          </a:p>
          <a:p>
            <a:pPr>
              <a:spcAft>
                <a:spcPts val="1000"/>
              </a:spcAft>
            </a:pPr>
            <a:r>
              <a:rPr sz="2000">
                <a:solidFill>
                  <a:srgbClr val="495057"/>
                </a:solidFill>
                <a:latin typeface="Calibri"/>
              </a:rPr>
              <a:t>•  Minimum slot count is NP-hard, so heuristics plus a quality bound</a:t>
            </a:r>
          </a:p>
        </p:txBody>
      </p:sp>
      <p:sp>
        <p:nvSpPr>
          <p:cNvPr id="6" name="Rounded Rectangle 5"/>
          <p:cNvSpPr/>
          <p:nvPr/>
        </p:nvSpPr>
        <p:spPr>
          <a:xfrm>
            <a:off x="7863840" y="1554480"/>
            <a:ext cx="3840480" cy="91440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Part 1 (mandatory)</a:t>
            </a:r>
          </a:p>
          <a:p>
            <a:pPr algn="ctr"/>
            <a:r>
              <a:rPr sz="1600" b="0">
                <a:solidFill>
                  <a:srgbClr val="FFFFFF"/>
                </a:solidFill>
                <a:latin typeface="Calibri"/>
              </a:rPr>
              <a:t>Python scheduler: graph model + colouring</a:t>
            </a:r>
          </a:p>
        </p:txBody>
      </p:sp>
      <p:sp>
        <p:nvSpPr>
          <p:cNvPr id="7" name="Rounded Rectangle 6"/>
          <p:cNvSpPr/>
          <p:nvPr/>
        </p:nvSpPr>
        <p:spPr>
          <a:xfrm>
            <a:off x="7863840" y="2834640"/>
            <a:ext cx="3840480" cy="91440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Part 2 (bonus)</a:t>
            </a:r>
          </a:p>
          <a:p>
            <a:pPr algn="ctr"/>
            <a:r>
              <a:rPr sz="1600" b="0">
                <a:solidFill>
                  <a:srgbClr val="FFFFFF"/>
                </a:solidFill>
                <a:latin typeface="Calibri"/>
              </a:rPr>
              <a:t>EMANE TDMA emulation of the schedule</a:t>
            </a:r>
          </a:p>
        </p:txBody>
      </p:sp>
      <p:sp>
        <p:nvSpPr>
          <p:cNvPr id="8" name="Rounded Rectangle 7"/>
          <p:cNvSpPr/>
          <p:nvPr/>
        </p:nvSpPr>
        <p:spPr>
          <a:xfrm>
            <a:off x="7863840" y="4114800"/>
            <a:ext cx="3840480" cy="914400"/>
          </a:xfrm>
          <a:prstGeom prst="roundRect">
            <a:avLst/>
          </a:prstGeom>
          <a:solidFill>
            <a:srgbClr val="4950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latin typeface="Calibri"/>
              </a:rPr>
              <a:t>Documentation</a:t>
            </a:r>
          </a:p>
          <a:p>
            <a:pPr algn="ctr"/>
            <a:r>
              <a:rPr sz="1600" b="0">
                <a:solidFill>
                  <a:srgbClr val="FFFFFF"/>
                </a:solidFill>
                <a:latin typeface="Calibri"/>
              </a:rPr>
              <a:t>Design, thought process, final values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Why two hops, not one</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3</a:t>
            </a:r>
          </a:p>
        </p:txBody>
      </p:sp>
      <p:pic>
        <p:nvPicPr>
          <p:cNvPr id="5" name="Picture 4" descr="hidden_terminal.png"/>
          <p:cNvPicPr>
            <a:picLocks noChangeAspect="1"/>
          </p:cNvPicPr>
          <p:nvPr/>
        </p:nvPicPr>
        <p:blipFill>
          <a:blip r:embed="rId3"/>
          <a:stretch>
            <a:fillRect/>
          </a:stretch>
        </p:blipFill>
        <p:spPr>
          <a:xfrm>
            <a:off x="640080" y="1371600"/>
            <a:ext cx="6583680" cy="2123768"/>
          </a:xfrm>
          <a:prstGeom prst="rect">
            <a:avLst/>
          </a:prstGeom>
        </p:spPr>
      </p:pic>
      <p:sp>
        <p:nvSpPr>
          <p:cNvPr id="6" name="TextBox 5"/>
          <p:cNvSpPr txBox="1"/>
          <p:nvPr/>
        </p:nvSpPr>
        <p:spPr>
          <a:xfrm>
            <a:off x="640080" y="3566160"/>
            <a:ext cx="6766560" cy="2286000"/>
          </a:xfrm>
          <a:prstGeom prst="rect">
            <a:avLst/>
          </a:prstGeom>
          <a:noFill/>
        </p:spPr>
        <p:txBody>
          <a:bodyPr wrap="square">
            <a:spAutoFit/>
          </a:bodyPr>
          <a:lstStyle/>
          <a:p>
            <a:pPr>
              <a:spcAft>
                <a:spcPts val="1000"/>
              </a:spcAft>
            </a:pPr>
            <a:r>
              <a:rPr sz="2000">
                <a:solidFill>
                  <a:srgbClr val="495057"/>
                </a:solidFill>
                <a:latin typeface="Calibri"/>
              </a:rPr>
              <a:t>•  Direct link (1 hop): A and B must differ</a:t>
            </a:r>
          </a:p>
          <a:p>
            <a:pPr>
              <a:spcAft>
                <a:spcPts val="1000"/>
              </a:spcAft>
            </a:pPr>
            <a:r>
              <a:rPr sz="2000">
                <a:solidFill>
                  <a:srgbClr val="495057"/>
                </a:solidFill>
                <a:latin typeface="Calibri"/>
              </a:rPr>
              <a:t>•  Hidden terminal (2 hops): A and C must differ</a:t>
            </a:r>
          </a:p>
          <a:p>
            <a:pPr>
              <a:spcAft>
                <a:spcPts val="1000"/>
              </a:spcAft>
            </a:pPr>
            <a:r>
              <a:rPr sz="2000">
                <a:solidFill>
                  <a:srgbClr val="495057"/>
                </a:solidFill>
                <a:latin typeface="Calibri"/>
              </a:rPr>
              <a:t>•  3 or more hops apart: free to share a slot</a:t>
            </a:r>
          </a:p>
        </p:txBody>
      </p:sp>
      <p:sp>
        <p:nvSpPr>
          <p:cNvPr id="7" name="Rounded Rectangle 6"/>
          <p:cNvSpPr/>
          <p:nvPr/>
        </p:nvSpPr>
        <p:spPr>
          <a:xfrm>
            <a:off x="7955279" y="1463040"/>
            <a:ext cx="3749039" cy="12801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Conflict graph = G squared</a:t>
            </a:r>
          </a:p>
          <a:p>
            <a:pPr algn="ctr"/>
            <a:r>
              <a:rPr sz="1700" b="0">
                <a:solidFill>
                  <a:srgbClr val="FFFFFF"/>
                </a:solidFill>
                <a:latin typeface="Calibri"/>
              </a:rPr>
              <a:t>edge if 1 or 2 hops apart in G</a:t>
            </a:r>
          </a:p>
        </p:txBody>
      </p:sp>
      <p:sp>
        <p:nvSpPr>
          <p:cNvPr id="8" name="Rounded Rectangle 7"/>
          <p:cNvSpPr/>
          <p:nvPr/>
        </p:nvSpPr>
        <p:spPr>
          <a:xfrm>
            <a:off x="7955279" y="3017520"/>
            <a:ext cx="3749039" cy="128016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Slot = colour</a:t>
            </a:r>
          </a:p>
          <a:p>
            <a:pPr algn="ctr"/>
            <a:r>
              <a:rPr sz="1700" b="0">
                <a:solidFill>
                  <a:srgbClr val="FFFFFF"/>
                </a:solidFill>
                <a:latin typeface="Calibri"/>
              </a:rPr>
              <a:t>proper colouring of G squared</a:t>
            </a:r>
          </a:p>
        </p:txBody>
      </p:sp>
      <p:sp>
        <p:nvSpPr>
          <p:cNvPr id="9" name="Rounded Rectangle 8"/>
          <p:cNvSpPr/>
          <p:nvPr/>
        </p:nvSpPr>
        <p:spPr>
          <a:xfrm>
            <a:off x="7955279" y="4572000"/>
            <a:ext cx="3749039" cy="1280160"/>
          </a:xfrm>
          <a:prstGeom prst="round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Spatial reuse</a:t>
            </a:r>
          </a:p>
          <a:p>
            <a:pPr algn="ctr"/>
            <a:r>
              <a:rPr sz="1700" b="0">
                <a:solidFill>
                  <a:srgbClr val="FFFFFF"/>
                </a:solidFill>
                <a:latin typeface="Calibri"/>
              </a:rPr>
              <a:t>comes from the model itself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Optimisation pipeline</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4</a:t>
            </a:r>
          </a:p>
        </p:txBody>
      </p:sp>
      <p:sp>
        <p:nvSpPr>
          <p:cNvPr id="5" name="Rounded Rectangle 4"/>
          <p:cNvSpPr/>
          <p:nvPr/>
        </p:nvSpPr>
        <p:spPr>
          <a:xfrm>
            <a:off x="457200" y="182880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Clique bound</a:t>
            </a:r>
          </a:p>
          <a:p>
            <a:pPr algn="ctr"/>
            <a:r>
              <a:rPr sz="1400" b="0">
                <a:solidFill>
                  <a:srgbClr val="FFFFFF"/>
                </a:solidFill>
                <a:latin typeface="Calibri"/>
              </a:rPr>
              <a:t>lower bound</a:t>
            </a:r>
          </a:p>
        </p:txBody>
      </p:sp>
      <p:sp>
        <p:nvSpPr>
          <p:cNvPr id="6" name="TextBox 5"/>
          <p:cNvSpPr txBox="1"/>
          <p:nvPr/>
        </p:nvSpPr>
        <p:spPr>
          <a:xfrm>
            <a:off x="2542032" y="205740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7" name="Rounded Rectangle 6"/>
          <p:cNvSpPr/>
          <p:nvPr/>
        </p:nvSpPr>
        <p:spPr>
          <a:xfrm>
            <a:off x="2788920" y="182880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DSATUR + 2 greedy</a:t>
            </a:r>
          </a:p>
          <a:p>
            <a:pPr algn="ctr"/>
            <a:r>
              <a:rPr sz="1400" b="0">
                <a:solidFill>
                  <a:srgbClr val="FFFFFF"/>
                </a:solidFill>
                <a:latin typeface="Calibri"/>
              </a:rPr>
              <a:t>constructive</a:t>
            </a:r>
          </a:p>
        </p:txBody>
      </p:sp>
      <p:sp>
        <p:nvSpPr>
          <p:cNvPr id="8" name="TextBox 7"/>
          <p:cNvSpPr txBox="1"/>
          <p:nvPr/>
        </p:nvSpPr>
        <p:spPr>
          <a:xfrm>
            <a:off x="4873752" y="205740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9" name="Rounded Rectangle 8"/>
          <p:cNvSpPr/>
          <p:nvPr/>
        </p:nvSpPr>
        <p:spPr>
          <a:xfrm>
            <a:off x="5120640" y="182880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Random restarts</a:t>
            </a:r>
          </a:p>
          <a:p>
            <a:pPr algn="ctr"/>
            <a:r>
              <a:rPr sz="1400" b="0">
                <a:solidFill>
                  <a:srgbClr val="FFFFFF"/>
                </a:solidFill>
                <a:latin typeface="Calibri"/>
              </a:rPr>
              <a:t>300 x DSATUR</a:t>
            </a:r>
          </a:p>
        </p:txBody>
      </p:sp>
      <p:sp>
        <p:nvSpPr>
          <p:cNvPr id="10" name="TextBox 9"/>
          <p:cNvSpPr txBox="1"/>
          <p:nvPr/>
        </p:nvSpPr>
        <p:spPr>
          <a:xfrm>
            <a:off x="7205471" y="205740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11" name="Rounded Rectangle 10"/>
          <p:cNvSpPr/>
          <p:nvPr/>
        </p:nvSpPr>
        <p:spPr>
          <a:xfrm>
            <a:off x="7452359" y="182880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TabuCol</a:t>
            </a:r>
          </a:p>
          <a:p>
            <a:pPr algn="ctr"/>
            <a:r>
              <a:rPr sz="1400" b="0">
                <a:solidFill>
                  <a:srgbClr val="FFFFFF"/>
                </a:solidFill>
                <a:latin typeface="Calibri"/>
              </a:rPr>
              <a:t>remove one colour</a:t>
            </a:r>
          </a:p>
        </p:txBody>
      </p:sp>
      <p:sp>
        <p:nvSpPr>
          <p:cNvPr id="12" name="TextBox 11"/>
          <p:cNvSpPr txBox="1"/>
          <p:nvPr/>
        </p:nvSpPr>
        <p:spPr>
          <a:xfrm>
            <a:off x="9537192" y="205740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13" name="Rounded Rectangle 12"/>
          <p:cNvSpPr/>
          <p:nvPr/>
        </p:nvSpPr>
        <p:spPr>
          <a:xfrm>
            <a:off x="9784080" y="1828800"/>
            <a:ext cx="2103120" cy="118872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Exact search</a:t>
            </a:r>
          </a:p>
          <a:p>
            <a:pPr algn="ctr"/>
            <a:r>
              <a:rPr sz="1400" b="0">
                <a:solidFill>
                  <a:srgbClr val="FFFFFF"/>
                </a:solidFill>
                <a:latin typeface="Calibri"/>
              </a:rPr>
              <a:t>prove or improve</a:t>
            </a:r>
          </a:p>
        </p:txBody>
      </p:sp>
      <p:sp>
        <p:nvSpPr>
          <p:cNvPr id="14" name="TextBox 13"/>
          <p:cNvSpPr txBox="1"/>
          <p:nvPr/>
        </p:nvSpPr>
        <p:spPr>
          <a:xfrm>
            <a:off x="640080" y="3566160"/>
            <a:ext cx="10972800" cy="2286000"/>
          </a:xfrm>
          <a:prstGeom prst="rect">
            <a:avLst/>
          </a:prstGeom>
          <a:noFill/>
        </p:spPr>
        <p:txBody>
          <a:bodyPr wrap="square">
            <a:spAutoFit/>
          </a:bodyPr>
          <a:lstStyle/>
          <a:p>
            <a:pPr>
              <a:spcAft>
                <a:spcPts val="1000"/>
              </a:spcAft>
            </a:pPr>
            <a:r>
              <a:rPr sz="2000">
                <a:solidFill>
                  <a:srgbClr val="495057"/>
                </a:solidFill>
                <a:latin typeface="Calibri"/>
              </a:rPr>
              <a:t>•  Stops as soon as colours = lower bound: result is provably optimal</a:t>
            </a:r>
          </a:p>
          <a:p>
            <a:pPr>
              <a:spcAft>
                <a:spcPts val="1000"/>
              </a:spcAft>
            </a:pPr>
            <a:r>
              <a:rPr sz="2000">
                <a:solidFill>
                  <a:srgbClr val="495057"/>
                </a:solidFill>
                <a:latin typeface="Calibri"/>
              </a:rPr>
              <a:t>•  Otherwise the report prints the interval [lower bound, result]: never over-claims</a:t>
            </a:r>
          </a:p>
          <a:p>
            <a:pPr>
              <a:spcAft>
                <a:spcPts val="1000"/>
              </a:spcAft>
            </a:pPr>
            <a:r>
              <a:rPr sz="2000">
                <a:solidFill>
                  <a:srgbClr val="495057"/>
                </a:solidFill>
                <a:latin typeface="Calibri"/>
              </a:rPr>
              <a:t>•  Seeded randomness: every run is reproducible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Correctness: an independent checker</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5</a:t>
            </a:r>
          </a:p>
        </p:txBody>
      </p:sp>
      <p:sp>
        <p:nvSpPr>
          <p:cNvPr id="5" name="TextBox 4"/>
          <p:cNvSpPr txBox="1"/>
          <p:nvPr/>
        </p:nvSpPr>
        <p:spPr>
          <a:xfrm>
            <a:off x="640080" y="1371600"/>
            <a:ext cx="6583680" cy="3200400"/>
          </a:xfrm>
          <a:prstGeom prst="rect">
            <a:avLst/>
          </a:prstGeom>
          <a:noFill/>
        </p:spPr>
        <p:txBody>
          <a:bodyPr wrap="square">
            <a:spAutoFit/>
          </a:bodyPr>
          <a:lstStyle/>
          <a:p>
            <a:pPr>
              <a:spcAft>
                <a:spcPts val="1000"/>
              </a:spcAft>
            </a:pPr>
            <a:r>
              <a:rPr sz="2000">
                <a:solidFill>
                  <a:srgbClr val="495057"/>
                </a:solidFill>
                <a:latin typeface="Calibri"/>
              </a:rPr>
              <a:t>•  verify.py works only from coordinates</a:t>
            </a:r>
          </a:p>
          <a:p>
            <a:pPr>
              <a:spcAft>
                <a:spcPts val="1000"/>
              </a:spcAft>
            </a:pPr>
            <a:r>
              <a:rPr sz="2000">
                <a:solidFill>
                  <a:srgbClr val="495057"/>
                </a:solidFill>
                <a:latin typeface="Calibri"/>
              </a:rPr>
              <a:t>•  For every pair in the same slot: in range? share a neighbour in range?</a:t>
            </a:r>
          </a:p>
          <a:p>
            <a:pPr>
              <a:spcAft>
                <a:spcPts val="1000"/>
              </a:spcAft>
            </a:pPr>
            <a:r>
              <a:rPr sz="2000">
                <a:solidFill>
                  <a:srgbClr val="495057"/>
                </a:solidFill>
                <a:latin typeface="Calibri"/>
              </a:rPr>
              <a:t>•  Reports the exact offending pair and reason, exit code 1</a:t>
            </a:r>
          </a:p>
          <a:p>
            <a:pPr>
              <a:spcAft>
                <a:spcPts val="1000"/>
              </a:spcAft>
            </a:pPr>
            <a:r>
              <a:rPr sz="2000">
                <a:solidFill>
                  <a:srgbClr val="495057"/>
                </a:solidFill>
                <a:latin typeface="Calibri"/>
              </a:rPr>
              <a:t>•  "Verified conflict-free" printed only after the check passes</a:t>
            </a:r>
          </a:p>
          <a:p>
            <a:pPr>
              <a:spcAft>
                <a:spcPts val="1000"/>
              </a:spcAft>
            </a:pPr>
            <a:r>
              <a:rPr sz="2000">
                <a:solidFill>
                  <a:srgbClr val="495057"/>
                </a:solidFill>
                <a:latin typeface="Calibri"/>
              </a:rPr>
              <a:t>•  29 automated tests including 40 random topologies</a:t>
            </a:r>
          </a:p>
        </p:txBody>
      </p:sp>
      <p:sp>
        <p:nvSpPr>
          <p:cNvPr id="6" name="Rounded Rectangle 5"/>
          <p:cNvSpPr/>
          <p:nvPr/>
        </p:nvSpPr>
        <p:spPr>
          <a:xfrm>
            <a:off x="7863840" y="1554480"/>
            <a:ext cx="3840480" cy="1097280"/>
          </a:xfrm>
          <a:prstGeom prst="round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29 tests</a:t>
            </a:r>
          </a:p>
          <a:p>
            <a:pPr algn="ctr"/>
            <a:r>
              <a:rPr sz="2100" b="0">
                <a:solidFill>
                  <a:srgbClr val="FFFFFF"/>
                </a:solidFill>
                <a:latin typeface="Calibri"/>
              </a:rPr>
              <a:t>all passing</a:t>
            </a:r>
          </a:p>
        </p:txBody>
      </p:sp>
      <p:sp>
        <p:nvSpPr>
          <p:cNvPr id="7" name="Rounded Rectangle 6"/>
          <p:cNvSpPr/>
          <p:nvPr/>
        </p:nvSpPr>
        <p:spPr>
          <a:xfrm>
            <a:off x="7863840" y="2926080"/>
            <a:ext cx="3840480" cy="1097280"/>
          </a:xfrm>
          <a:prstGeom prst="round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400" b="1">
                <a:solidFill>
                  <a:srgbClr val="FFFFFF"/>
                </a:solidFill>
                <a:latin typeface="Calibri"/>
              </a:rPr>
              <a:t>0 collisions</a:t>
            </a:r>
          </a:p>
          <a:p>
            <a:pPr algn="ctr"/>
            <a:r>
              <a:rPr sz="2100" b="0">
                <a:solidFill>
                  <a:srgbClr val="FFFFFF"/>
                </a:solidFill>
                <a:latin typeface="Calibri"/>
              </a:rPr>
              <a:t>in every verified schedule</a:t>
            </a:r>
          </a:p>
        </p:txBody>
      </p:sp>
      <p:sp>
        <p:nvSpPr>
          <p:cNvPr id="8" name="Rounded Rectangle 7"/>
          <p:cNvSpPr/>
          <p:nvPr/>
        </p:nvSpPr>
        <p:spPr>
          <a:xfrm>
            <a:off x="7863840" y="4297680"/>
            <a:ext cx="3840480" cy="109728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Strict input checks</a:t>
            </a:r>
          </a:p>
          <a:p>
            <a:pPr algn="ctr"/>
            <a:r>
              <a:rPr sz="1900" b="0">
                <a:solidFill>
                  <a:srgbClr val="FFFFFF"/>
                </a:solidFill>
                <a:latin typeface="Calibri"/>
              </a:rPr>
              <a:t>bad JSON, NaN, wrong arity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Part 1 results (16 nodes, 500 m)</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6</a:t>
            </a:r>
          </a:p>
        </p:txBody>
      </p:sp>
      <p:pic>
        <p:nvPicPr>
          <p:cNvPr id="5" name="Picture 4" descr="grid_slots.png"/>
          <p:cNvPicPr>
            <a:picLocks noChangeAspect="1"/>
          </p:cNvPicPr>
          <p:nvPr/>
        </p:nvPicPr>
        <p:blipFill>
          <a:blip r:embed="rId3"/>
          <a:stretch>
            <a:fillRect/>
          </a:stretch>
        </p:blipFill>
        <p:spPr>
          <a:xfrm>
            <a:off x="548640" y="1188720"/>
            <a:ext cx="5120640" cy="4620236"/>
          </a:xfrm>
          <a:prstGeom prst="rect">
            <a:avLst/>
          </a:prstGeom>
        </p:spPr>
      </p:pic>
      <p:graphicFrame>
        <p:nvGraphicFramePr>
          <p:cNvPr id="6" name="Table 5"/>
          <p:cNvGraphicFramePr>
            <a:graphicFrameLocks noGrp="1"/>
          </p:cNvGraphicFramePr>
          <p:nvPr/>
        </p:nvGraphicFramePr>
        <p:xfrm>
          <a:off x="6126480" y="1554480"/>
          <a:ext cx="5669280" cy="2011680"/>
        </p:xfrm>
        <a:graphic>
          <a:graphicData uri="http://schemas.openxmlformats.org/drawingml/2006/table">
            <a:tbl>
              <a:tblPr firstRow="1" bandRow="1">
                <a:tableStyleId>{5C22544A-7EE6-4342-B048-85BDC9FD1C3A}</a:tableStyleId>
              </a:tblPr>
              <a:tblGrid>
                <a:gridCol w="1133856"/>
                <a:gridCol w="1133856"/>
                <a:gridCol w="1133856"/>
                <a:gridCol w="1133856"/>
                <a:gridCol w="1133856"/>
              </a:tblGrid>
              <a:tr h="502920">
                <a:tc>
                  <a:txBody>
                    <a:bodyPr/>
                    <a:lstStyle/>
                    <a:p>
                      <a:pPr>
                        <a:defRPr sz="1500" b="1">
                          <a:latin typeface="Calibri"/>
                        </a:defRPr>
                      </a:pPr>
                      <a:r>
                        <a:t>Topology</a:t>
                      </a:r>
                    </a:p>
                  </a:txBody>
                  <a:tcPr/>
                </a:tc>
                <a:tc>
                  <a:txBody>
                    <a:bodyPr/>
                    <a:lstStyle/>
                    <a:p>
                      <a:pPr>
                        <a:defRPr sz="1500" b="1">
                          <a:latin typeface="Calibri"/>
                        </a:defRPr>
                      </a:pPr>
                      <a:r>
                        <a:t>Links</a:t>
                      </a:r>
                    </a:p>
                  </a:txBody>
                  <a:tcPr/>
                </a:tc>
                <a:tc>
                  <a:txBody>
                    <a:bodyPr/>
                    <a:lstStyle/>
                    <a:p>
                      <a:pPr>
                        <a:defRPr sz="1500" b="1">
                          <a:latin typeface="Calibri"/>
                        </a:defRPr>
                      </a:pPr>
                      <a:r>
                        <a:t>Slots</a:t>
                      </a:r>
                    </a:p>
                  </a:txBody>
                  <a:tcPr/>
                </a:tc>
                <a:tc>
                  <a:txBody>
                    <a:bodyPr/>
                    <a:lstStyle/>
                    <a:p>
                      <a:pPr>
                        <a:defRPr sz="1500" b="1">
                          <a:latin typeface="Calibri"/>
                        </a:defRPr>
                      </a:pPr>
                      <a:r>
                        <a:t>Bound</a:t>
                      </a:r>
                    </a:p>
                  </a:txBody>
                  <a:tcPr/>
                </a:tc>
                <a:tc>
                  <a:txBody>
                    <a:bodyPr/>
                    <a:lstStyle/>
                    <a:p>
                      <a:pPr>
                        <a:defRPr sz="1500" b="1">
                          <a:latin typeface="Calibri"/>
                        </a:defRPr>
                      </a:pPr>
                      <a:r>
                        <a:t>Status</a:t>
                      </a:r>
                    </a:p>
                  </a:txBody>
                  <a:tcPr/>
                </a:tc>
              </a:tr>
              <a:tr h="502920">
                <a:tc>
                  <a:txBody>
                    <a:bodyPr/>
                    <a:lstStyle/>
                    <a:p>
                      <a:pPr>
                        <a:defRPr sz="1500" b="0">
                          <a:latin typeface="Calibri"/>
                        </a:defRPr>
                      </a:pPr>
                      <a:r>
                        <a:t>4x4 grid, 300 m</a:t>
                      </a:r>
                    </a:p>
                  </a:txBody>
                  <a:tcPr/>
                </a:tc>
                <a:tc>
                  <a:txBody>
                    <a:bodyPr/>
                    <a:lstStyle/>
                    <a:p>
                      <a:pPr>
                        <a:defRPr sz="1500" b="0">
                          <a:latin typeface="Calibri"/>
                        </a:defRPr>
                      </a:pPr>
                      <a:r>
                        <a:t>42</a:t>
                      </a:r>
                    </a:p>
                  </a:txBody>
                  <a:tcPr/>
                </a:tc>
                <a:tc>
                  <a:txBody>
                    <a:bodyPr/>
                    <a:lstStyle/>
                    <a:p>
                      <a:pPr>
                        <a:defRPr sz="1500" b="0">
                          <a:latin typeface="Calibri"/>
                        </a:defRPr>
                      </a:pPr>
                      <a:r>
                        <a:t>9</a:t>
                      </a:r>
                    </a:p>
                  </a:txBody>
                  <a:tcPr/>
                </a:tc>
                <a:tc>
                  <a:txBody>
                    <a:bodyPr/>
                    <a:lstStyle/>
                    <a:p>
                      <a:pPr>
                        <a:defRPr sz="1500" b="0">
                          <a:latin typeface="Calibri"/>
                        </a:defRPr>
                      </a:pPr>
                      <a:r>
                        <a:t>9</a:t>
                      </a:r>
                    </a:p>
                  </a:txBody>
                  <a:tcPr/>
                </a:tc>
                <a:tc>
                  <a:txBody>
                    <a:bodyPr/>
                    <a:lstStyle/>
                    <a:p>
                      <a:pPr>
                        <a:defRPr sz="1500" b="0">
                          <a:latin typeface="Calibri"/>
                        </a:defRPr>
                      </a:pPr>
                      <a:r>
                        <a:t>optimal</a:t>
                      </a:r>
                    </a:p>
                  </a:txBody>
                  <a:tcPr/>
                </a:tc>
              </a:tr>
              <a:tr h="502920">
                <a:tc>
                  <a:txBody>
                    <a:bodyPr/>
                    <a:lstStyle/>
                    <a:p>
                      <a:pPr>
                        <a:defRPr sz="1500" b="0">
                          <a:latin typeface="Calibri"/>
                        </a:defRPr>
                      </a:pPr>
                      <a:r>
                        <a:t>Random layout</a:t>
                      </a:r>
                    </a:p>
                  </a:txBody>
                  <a:tcPr/>
                </a:tc>
                <a:tc>
                  <a:txBody>
                    <a:bodyPr/>
                    <a:lstStyle/>
                    <a:p>
                      <a:pPr>
                        <a:defRPr sz="1500" b="0">
                          <a:latin typeface="Calibri"/>
                        </a:defRPr>
                      </a:pPr>
                      <a:r>
                        <a:t>39</a:t>
                      </a:r>
                    </a:p>
                  </a:txBody>
                  <a:tcPr/>
                </a:tc>
                <a:tc>
                  <a:txBody>
                    <a:bodyPr/>
                    <a:lstStyle/>
                    <a:p>
                      <a:pPr>
                        <a:defRPr sz="1500" b="0">
                          <a:latin typeface="Calibri"/>
                        </a:defRPr>
                      </a:pPr>
                      <a:r>
                        <a:t>10</a:t>
                      </a:r>
                    </a:p>
                  </a:txBody>
                  <a:tcPr/>
                </a:tc>
                <a:tc>
                  <a:txBody>
                    <a:bodyPr/>
                    <a:lstStyle/>
                    <a:p>
                      <a:pPr>
                        <a:defRPr sz="1500" b="0">
                          <a:latin typeface="Calibri"/>
                        </a:defRPr>
                      </a:pPr>
                      <a:r>
                        <a:t>10</a:t>
                      </a:r>
                    </a:p>
                  </a:txBody>
                  <a:tcPr/>
                </a:tc>
                <a:tc>
                  <a:txBody>
                    <a:bodyPr/>
                    <a:lstStyle/>
                    <a:p>
                      <a:pPr>
                        <a:defRPr sz="1500" b="0">
                          <a:latin typeface="Calibri"/>
                        </a:defRPr>
                      </a:pPr>
                      <a:r>
                        <a:t>optimal</a:t>
                      </a:r>
                    </a:p>
                  </a:txBody>
                  <a:tcPr/>
                </a:tc>
              </a:tr>
              <a:tr h="502920">
                <a:tc>
                  <a:txBody>
                    <a:bodyPr/>
                    <a:lstStyle/>
                    <a:p>
                      <a:pPr>
                        <a:defRPr sz="1500" b="0">
                          <a:latin typeface="Calibri"/>
                        </a:defRPr>
                      </a:pPr>
                      <a:r>
                        <a:t>Two clusters + isolated</a:t>
                      </a:r>
                    </a:p>
                  </a:txBody>
                  <a:tcPr/>
                </a:tc>
                <a:tc>
                  <a:txBody>
                    <a:bodyPr/>
                    <a:lstStyle/>
                    <a:p>
                      <a:pPr>
                        <a:defRPr sz="1500" b="0">
                          <a:latin typeface="Calibri"/>
                        </a:defRPr>
                      </a:pPr>
                      <a:r>
                        <a:t>47</a:t>
                      </a:r>
                    </a:p>
                  </a:txBody>
                  <a:tcPr/>
                </a:tc>
                <a:tc>
                  <a:txBody>
                    <a:bodyPr/>
                    <a:lstStyle/>
                    <a:p>
                      <a:pPr>
                        <a:defRPr sz="1500" b="0">
                          <a:latin typeface="Calibri"/>
                        </a:defRPr>
                      </a:pPr>
                      <a:r>
                        <a:t>8</a:t>
                      </a:r>
                    </a:p>
                  </a:txBody>
                  <a:tcPr/>
                </a:tc>
                <a:tc>
                  <a:txBody>
                    <a:bodyPr/>
                    <a:lstStyle/>
                    <a:p>
                      <a:pPr>
                        <a:defRPr sz="1500" b="0">
                          <a:latin typeface="Calibri"/>
                        </a:defRPr>
                      </a:pPr>
                      <a:r>
                        <a:t>8</a:t>
                      </a:r>
                    </a:p>
                  </a:txBody>
                  <a:tcPr/>
                </a:tc>
                <a:tc>
                  <a:txBody>
                    <a:bodyPr/>
                    <a:lstStyle/>
                    <a:p>
                      <a:pPr>
                        <a:defRPr sz="1500" b="0">
                          <a:latin typeface="Calibri"/>
                        </a:defRPr>
                      </a:pPr>
                      <a:r>
                        <a:t>optimal</a:t>
                      </a:r>
                    </a:p>
                  </a:txBody>
                  <a:tcPr/>
                </a:tc>
              </a:tr>
            </a:tbl>
          </a:graphicData>
        </a:graphic>
      </p:graphicFrame>
      <p:sp>
        <p:nvSpPr>
          <p:cNvPr id="7" name="TextBox 6"/>
          <p:cNvSpPr txBox="1"/>
          <p:nvPr/>
        </p:nvSpPr>
        <p:spPr>
          <a:xfrm>
            <a:off x="6126480" y="3931920"/>
            <a:ext cx="5669280" cy="1828800"/>
          </a:xfrm>
          <a:prstGeom prst="rect">
            <a:avLst/>
          </a:prstGeom>
          <a:noFill/>
        </p:spPr>
        <p:txBody>
          <a:bodyPr wrap="square" anchor="t">
            <a:spAutoFit/>
          </a:bodyPr>
          <a:lstStyle/>
          <a:p>
            <a:pPr algn="l">
              <a:spcAft>
                <a:spcPts val="600"/>
              </a:spcAft>
            </a:pPr>
            <a:r>
              <a:rPr sz="1700" b="0">
                <a:solidFill>
                  <a:srgbClr val="495057"/>
                </a:solidFill>
                <a:latin typeface="Calibri"/>
              </a:rPr>
              <a:t>Slot-level replay of the grid (84 links):</a:t>
            </a:r>
          </a:p>
          <a:p>
            <a:pPr algn="l">
              <a:spcAft>
                <a:spcPts val="600"/>
              </a:spcAft>
            </a:pPr>
            <a:r>
              <a:rPr sz="1700" b="0">
                <a:solidFill>
                  <a:srgbClr val="495057"/>
                </a:solidFill>
                <a:latin typeface="Calibri"/>
              </a:rPr>
              <a:t>distance-2 schedule: 84 delivered, 0 collided</a:t>
            </a:r>
          </a:p>
          <a:p>
            <a:pPr algn="l">
              <a:spcAft>
                <a:spcPts val="600"/>
              </a:spcAft>
            </a:pPr>
            <a:r>
              <a:rPr sz="1700" b="0">
                <a:solidFill>
                  <a:srgbClr val="495057"/>
                </a:solidFill>
                <a:latin typeface="Calibri"/>
              </a:rPr>
              <a:t>plain distance-1 colouring: 20 delivered, 64 collided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Part 2: from schedule to EMANE</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7</a:t>
            </a:r>
          </a:p>
        </p:txBody>
      </p:sp>
      <p:sp>
        <p:nvSpPr>
          <p:cNvPr id="5" name="Rounded Rectangle 4"/>
          <p:cNvSpPr/>
          <p:nvPr/>
        </p:nvSpPr>
        <p:spPr>
          <a:xfrm>
            <a:off x="457200" y="1737360"/>
            <a:ext cx="2103120" cy="118872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Coordinates</a:t>
            </a:r>
          </a:p>
          <a:p>
            <a:pPr algn="ctr"/>
            <a:r>
              <a:rPr sz="1400" b="0">
                <a:solidFill>
                  <a:srgbClr val="FFFFFF"/>
                </a:solidFill>
                <a:latin typeface="Calibri"/>
              </a:rPr>
              <a:t>JSON</a:t>
            </a:r>
          </a:p>
        </p:txBody>
      </p:sp>
      <p:sp>
        <p:nvSpPr>
          <p:cNvPr id="6" name="TextBox 5"/>
          <p:cNvSpPr txBox="1"/>
          <p:nvPr/>
        </p:nvSpPr>
        <p:spPr>
          <a:xfrm>
            <a:off x="2542032" y="196596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7" name="Rounded Rectangle 6"/>
          <p:cNvSpPr/>
          <p:nvPr/>
        </p:nvSpPr>
        <p:spPr>
          <a:xfrm>
            <a:off x="2788920" y="173736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Python optimizer</a:t>
            </a:r>
          </a:p>
          <a:p>
            <a:pPr algn="ctr"/>
            <a:r>
              <a:rPr sz="1400" b="0">
                <a:solidFill>
                  <a:srgbClr val="FFFFFF"/>
                </a:solidFill>
                <a:latin typeface="Calibri"/>
              </a:rPr>
              <a:t>Part 1</a:t>
            </a:r>
          </a:p>
        </p:txBody>
      </p:sp>
      <p:sp>
        <p:nvSpPr>
          <p:cNvPr id="8" name="TextBox 7"/>
          <p:cNvSpPr txBox="1"/>
          <p:nvPr/>
        </p:nvSpPr>
        <p:spPr>
          <a:xfrm>
            <a:off x="4873752" y="196596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9" name="Rounded Rectangle 8"/>
          <p:cNvSpPr/>
          <p:nvPr/>
        </p:nvSpPr>
        <p:spPr>
          <a:xfrm>
            <a:off x="5120640" y="1737360"/>
            <a:ext cx="2103120" cy="118872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schedule.json</a:t>
            </a:r>
          </a:p>
          <a:p>
            <a:pPr algn="ctr"/>
            <a:r>
              <a:rPr sz="1400" b="0">
                <a:solidFill>
                  <a:srgbClr val="FFFFFF"/>
                </a:solidFill>
                <a:latin typeface="Calibri"/>
              </a:rPr>
              <a:t>contract</a:t>
            </a:r>
          </a:p>
        </p:txBody>
      </p:sp>
      <p:sp>
        <p:nvSpPr>
          <p:cNvPr id="10" name="TextBox 9"/>
          <p:cNvSpPr txBox="1"/>
          <p:nvPr/>
        </p:nvSpPr>
        <p:spPr>
          <a:xfrm>
            <a:off x="7205471" y="196596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11" name="Rounded Rectangle 10"/>
          <p:cNvSpPr/>
          <p:nvPr/>
        </p:nvSpPr>
        <p:spPr>
          <a:xfrm>
            <a:off x="7452359" y="1737360"/>
            <a:ext cx="2103120" cy="118872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bridge.py</a:t>
            </a:r>
          </a:p>
          <a:p>
            <a:pPr algn="ctr"/>
            <a:r>
              <a:rPr sz="1400" b="0">
                <a:solidFill>
                  <a:srgbClr val="FFFFFF"/>
                </a:solidFill>
                <a:latin typeface="Calibri"/>
              </a:rPr>
              <a:t>XML + EEL</a:t>
            </a:r>
          </a:p>
        </p:txBody>
      </p:sp>
      <p:sp>
        <p:nvSpPr>
          <p:cNvPr id="12" name="TextBox 11"/>
          <p:cNvSpPr txBox="1"/>
          <p:nvPr/>
        </p:nvSpPr>
        <p:spPr>
          <a:xfrm>
            <a:off x="9537192" y="1965960"/>
            <a:ext cx="365760" cy="548640"/>
          </a:xfrm>
          <a:prstGeom prst="rect">
            <a:avLst/>
          </a:prstGeom>
          <a:noFill/>
        </p:spPr>
        <p:txBody>
          <a:bodyPr wrap="square" anchor="t">
            <a:spAutoFit/>
          </a:bodyPr>
          <a:lstStyle/>
          <a:p>
            <a:pPr algn="ctr">
              <a:spcAft>
                <a:spcPts val="600"/>
              </a:spcAft>
            </a:pPr>
            <a:r>
              <a:rPr sz="2200" b="0">
                <a:solidFill>
                  <a:srgbClr val="495057"/>
                </a:solidFill>
                <a:latin typeface="Calibri"/>
              </a:rPr>
              <a:t>▶</a:t>
            </a:r>
          </a:p>
        </p:txBody>
      </p:sp>
      <p:sp>
        <p:nvSpPr>
          <p:cNvPr id="13" name="Rounded Rectangle 12"/>
          <p:cNvSpPr/>
          <p:nvPr/>
        </p:nvSpPr>
        <p:spPr>
          <a:xfrm>
            <a:off x="9784080" y="1737360"/>
            <a:ext cx="2103120" cy="118872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latin typeface="Calibri"/>
              </a:rPr>
              <a:t>EMANE 1.5.3</a:t>
            </a:r>
          </a:p>
          <a:p>
            <a:pPr algn="ctr"/>
            <a:r>
              <a:rPr sz="1400" b="0">
                <a:solidFill>
                  <a:srgbClr val="FFFFFF"/>
                </a:solidFill>
                <a:latin typeface="Calibri"/>
              </a:rPr>
              <a:t>16 radios</a:t>
            </a:r>
          </a:p>
        </p:txBody>
      </p:sp>
      <p:sp>
        <p:nvSpPr>
          <p:cNvPr id="14" name="TextBox 13"/>
          <p:cNvSpPr txBox="1"/>
          <p:nvPr/>
        </p:nvSpPr>
        <p:spPr>
          <a:xfrm>
            <a:off x="640080" y="3474720"/>
            <a:ext cx="10972800" cy="2743200"/>
          </a:xfrm>
          <a:prstGeom prst="rect">
            <a:avLst/>
          </a:prstGeom>
          <a:noFill/>
        </p:spPr>
        <p:txBody>
          <a:bodyPr wrap="square">
            <a:spAutoFit/>
          </a:bodyPr>
          <a:lstStyle/>
          <a:p>
            <a:pPr>
              <a:spcAft>
                <a:spcPts val="1000"/>
              </a:spcAft>
            </a:pPr>
            <a:r>
              <a:rPr sz="1900">
                <a:solidFill>
                  <a:srgbClr val="495057"/>
                </a:solidFill>
                <a:latin typeface="Calibri"/>
              </a:rPr>
              <a:t>•  One network namespace and one emane process per radio, in a single Docker container</a:t>
            </a:r>
          </a:p>
          <a:p>
            <a:pPr>
              <a:spcAft>
                <a:spcPts val="1000"/>
              </a:spcAft>
            </a:pPr>
            <a:r>
              <a:rPr sz="1900">
                <a:solidFill>
                  <a:srgbClr val="495057"/>
                </a:solidFill>
                <a:latin typeface="Calibri"/>
              </a:rPr>
              <a:t>•  emaneevent-tdmaschedule delivers each NEM its own slots</a:t>
            </a:r>
          </a:p>
          <a:p>
            <a:pPr>
              <a:spcAft>
                <a:spcPts val="1000"/>
              </a:spcAft>
            </a:pPr>
            <a:r>
              <a:rPr sz="1900">
                <a:solidFill>
                  <a:srgbClr val="495057"/>
                </a:solidFill>
                <a:latin typeface="Calibri"/>
              </a:rPr>
              <a:t>•  Pathloss events (80 dB in range, 250 dB beyond) reproduce the 500 m disk model exactly</a:t>
            </a:r>
          </a:p>
          <a:p>
            <a:pPr>
              <a:spcAft>
                <a:spcPts val="1000"/>
              </a:spcAft>
            </a:pPr>
            <a:r>
              <a:rPr sz="1900">
                <a:solidFill>
                  <a:srgbClr val="495057"/>
                </a:solidFill>
                <a:latin typeface="Calibri"/>
              </a:rPr>
              <a:t>•  Default slot length 1 ms as specified; frame = number of colours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Schedule mapping</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8</a:t>
            </a:r>
          </a:p>
        </p:txBody>
      </p:sp>
      <p:sp>
        <p:nvSpPr>
          <p:cNvPr id="5" name="Rounded Rectangle 4"/>
          <p:cNvSpPr/>
          <p:nvPr/>
        </p:nvSpPr>
        <p:spPr>
          <a:xfrm>
            <a:off x="640080" y="1371600"/>
            <a:ext cx="6309360" cy="4023360"/>
          </a:xfrm>
          <a:prstGeom prst="round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6035040" cy="3840480"/>
          </a:xfrm>
          <a:prstGeom prst="rect">
            <a:avLst/>
          </a:prstGeom>
          <a:noFill/>
        </p:spPr>
        <p:txBody>
          <a:bodyPr wrap="square" anchor="t">
            <a:spAutoFit/>
          </a:bodyPr>
          <a:lstStyle/>
          <a:p>
            <a:pPr algn="l">
              <a:spcAft>
                <a:spcPts val="600"/>
              </a:spcAft>
            </a:pPr>
            <a:r>
              <a:rPr sz="1500" b="0">
                <a:solidFill>
                  <a:srgbClr val="142B4D"/>
                </a:solidFill>
                <a:latin typeface="Consolas"/>
              </a:rPr>
              <a:t>&lt;structure frames="1" slots="9"</a:t>
            </a:r>
          </a:p>
          <a:p>
            <a:pPr algn="l">
              <a:spcAft>
                <a:spcPts val="600"/>
              </a:spcAft>
            </a:pPr>
            <a:r>
              <a:rPr sz="1500" b="0">
                <a:solidFill>
                  <a:srgbClr val="142B4D"/>
                </a:solidFill>
                <a:latin typeface="Consolas"/>
              </a:rPr>
              <a:t>    slotduration="1000" bandwidth="1M"/&gt;</a:t>
            </a:r>
          </a:p>
          <a:p>
            <a:pPr algn="l">
              <a:spcAft>
                <a:spcPts val="600"/>
              </a:spcAft>
            </a:pPr>
            <a:r>
              <a:rPr sz="1500" b="0">
                <a:solidFill>
                  <a:srgbClr val="142B4D"/>
                </a:solidFill>
                <a:latin typeface="Consolas"/>
              </a:rPr>
              <a:t>&lt;multiframe frequency="2.4G" ...&gt;</a:t>
            </a:r>
          </a:p>
          <a:p>
            <a:pPr algn="l">
              <a:spcAft>
                <a:spcPts val="600"/>
              </a:spcAft>
            </a:pPr>
            <a:r>
              <a:rPr sz="1500" b="0">
                <a:solidFill>
                  <a:srgbClr val="142B4D"/>
                </a:solidFill>
                <a:latin typeface="Consolas"/>
              </a:rPr>
              <a:t>  &lt;frame index="0"&gt;</a:t>
            </a:r>
          </a:p>
          <a:p>
            <a:pPr algn="l">
              <a:spcAft>
                <a:spcPts val="600"/>
              </a:spcAft>
            </a:pPr>
            <a:r>
              <a:rPr sz="1500" b="0">
                <a:solidFill>
                  <a:srgbClr val="142B4D"/>
                </a:solidFill>
                <a:latin typeface="Consolas"/>
              </a:rPr>
              <a:t>    &lt;slot index="0" nodes="1,4,13,16"&gt;</a:t>
            </a:r>
          </a:p>
          <a:p>
            <a:pPr algn="l">
              <a:spcAft>
                <a:spcPts val="600"/>
              </a:spcAft>
            </a:pPr>
            <a:r>
              <a:rPr sz="1500" b="0">
                <a:solidFill>
                  <a:srgbClr val="142B4D"/>
                </a:solidFill>
                <a:latin typeface="Consolas"/>
              </a:rPr>
              <a:t>      &lt;tx/&gt;</a:t>
            </a:r>
          </a:p>
          <a:p>
            <a:pPr algn="l">
              <a:spcAft>
                <a:spcPts val="600"/>
              </a:spcAft>
            </a:pPr>
            <a:r>
              <a:rPr sz="1500" b="0">
                <a:solidFill>
                  <a:srgbClr val="142B4D"/>
                </a:solidFill>
                <a:latin typeface="Consolas"/>
              </a:rPr>
              <a:t>    &lt;/slot&gt;</a:t>
            </a:r>
          </a:p>
          <a:p>
            <a:pPr algn="l">
              <a:spcAft>
                <a:spcPts val="600"/>
              </a:spcAft>
            </a:pPr>
            <a:r>
              <a:rPr sz="1500" b="0">
                <a:solidFill>
                  <a:srgbClr val="142B4D"/>
                </a:solidFill>
                <a:latin typeface="Consolas"/>
              </a:rPr>
              <a:t>    &lt;slot index="0" nodes="2,3,5,6,..."&gt;</a:t>
            </a:r>
          </a:p>
          <a:p>
            <a:pPr algn="l">
              <a:spcAft>
                <a:spcPts val="600"/>
              </a:spcAft>
            </a:pPr>
            <a:r>
              <a:rPr sz="1500" b="0">
                <a:solidFill>
                  <a:srgbClr val="142B4D"/>
                </a:solidFill>
                <a:latin typeface="Consolas"/>
              </a:rPr>
              <a:t>      &lt;rx/&gt;</a:t>
            </a:r>
          </a:p>
          <a:p>
            <a:pPr algn="l">
              <a:spcAft>
                <a:spcPts val="600"/>
              </a:spcAft>
            </a:pPr>
            <a:r>
              <a:rPr sz="1500" b="0">
                <a:solidFill>
                  <a:srgbClr val="142B4D"/>
                </a:solidFill>
                <a:latin typeface="Consolas"/>
              </a:rPr>
              <a:t>    &lt;/slot&gt;</a:t>
            </a:r>
          </a:p>
          <a:p>
            <a:pPr algn="l">
              <a:spcAft>
                <a:spcPts val="600"/>
              </a:spcAft>
            </a:pPr>
            <a:r>
              <a:rPr sz="1500" b="0">
                <a:solidFill>
                  <a:srgbClr val="142B4D"/>
                </a:solidFill>
                <a:latin typeface="Consolas"/>
              </a:rPr>
              <a:t>    ...</a:t>
            </a:r>
          </a:p>
        </p:txBody>
      </p:sp>
      <p:sp>
        <p:nvSpPr>
          <p:cNvPr id="7" name="TextBox 6"/>
          <p:cNvSpPr txBox="1"/>
          <p:nvPr/>
        </p:nvSpPr>
        <p:spPr>
          <a:xfrm>
            <a:off x="7315200" y="1463040"/>
            <a:ext cx="4480560" cy="2743200"/>
          </a:xfrm>
          <a:prstGeom prst="rect">
            <a:avLst/>
          </a:prstGeom>
          <a:noFill/>
        </p:spPr>
        <p:txBody>
          <a:bodyPr wrap="square">
            <a:spAutoFit/>
          </a:bodyPr>
          <a:lstStyle/>
          <a:p>
            <a:pPr>
              <a:spcAft>
                <a:spcPts val="1000"/>
              </a:spcAft>
            </a:pPr>
            <a:r>
              <a:rPr sz="1800">
                <a:solidFill>
                  <a:srgbClr val="495057"/>
                </a:solidFill>
                <a:latin typeface="Calibri"/>
              </a:rPr>
              <a:t>•  Slot 0: Node_01, 04, 13, 16 transmit together</a:t>
            </a:r>
          </a:p>
          <a:p>
            <a:pPr>
              <a:spcAft>
                <a:spcPts val="1000"/>
              </a:spcAft>
            </a:pPr>
            <a:r>
              <a:rPr sz="1800">
                <a:solidFill>
                  <a:srgbClr val="495057"/>
                </a:solidFill>
                <a:latin typeface="Calibri"/>
              </a:rPr>
              <a:t>•  Everyone else listens in slot 0</a:t>
            </a:r>
          </a:p>
          <a:p>
            <a:pPr>
              <a:spcAft>
                <a:spcPts val="1000"/>
              </a:spcAft>
            </a:pPr>
            <a:r>
              <a:rPr sz="1800">
                <a:solidFill>
                  <a:srgbClr val="495057"/>
                </a:solidFill>
                <a:latin typeface="Calibri"/>
              </a:rPr>
              <a:t>•  1 ms slots, one frame, one frequency</a:t>
            </a:r>
          </a:p>
          <a:p>
            <a:pPr>
              <a:spcAft>
                <a:spcPts val="1000"/>
              </a:spcAft>
            </a:pPr>
            <a:r>
              <a:rPr sz="1800">
                <a:solidFill>
                  <a:srgbClr val="495057"/>
                </a:solidFill>
                <a:latin typeface="Calibri"/>
              </a:rPr>
              <a:t>•  Test checks XML against the Python schedule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EMANE results</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9</a:t>
            </a:r>
          </a:p>
        </p:txBody>
      </p:sp>
      <p:pic>
        <p:nvPicPr>
          <p:cNvPr id="5" name="Picture 4" descr="emane_loss.png"/>
          <p:cNvPicPr>
            <a:picLocks noChangeAspect="1"/>
          </p:cNvPicPr>
          <p:nvPr/>
        </p:nvPicPr>
        <p:blipFill>
          <a:blip r:embed="rId3"/>
          <a:stretch>
            <a:fillRect/>
          </a:stretch>
        </p:blipFill>
        <p:spPr>
          <a:xfrm>
            <a:off x="548640" y="1280160"/>
            <a:ext cx="5669280" cy="3779520"/>
          </a:xfrm>
          <a:prstGeom prst="rect">
            <a:avLst/>
          </a:prstGeom>
        </p:spPr>
      </p:pic>
      <p:sp>
        <p:nvSpPr>
          <p:cNvPr id="6" name="TextBox 5"/>
          <p:cNvSpPr txBox="1"/>
          <p:nvPr/>
        </p:nvSpPr>
        <p:spPr>
          <a:xfrm>
            <a:off x="6492240" y="1371600"/>
            <a:ext cx="5394960" cy="3200400"/>
          </a:xfrm>
          <a:prstGeom prst="rect">
            <a:avLst/>
          </a:prstGeom>
          <a:noFill/>
        </p:spPr>
        <p:txBody>
          <a:bodyPr wrap="square">
            <a:spAutoFit/>
          </a:bodyPr>
          <a:lstStyle/>
          <a:p>
            <a:pPr>
              <a:spcAft>
                <a:spcPts val="1000"/>
              </a:spcAft>
            </a:pPr>
            <a:r>
              <a:rPr sz="1800">
                <a:solidFill>
                  <a:srgbClr val="495057"/>
                </a:solidFill>
                <a:latin typeface="Calibri"/>
              </a:rPr>
              <a:t>•  120 / 120 node pairs follow the 500 m topology</a:t>
            </a:r>
          </a:p>
          <a:p>
            <a:pPr>
              <a:spcAft>
                <a:spcPts val="1000"/>
              </a:spcAft>
            </a:pPr>
            <a:r>
              <a:rPr sz="1800">
                <a:solidFill>
                  <a:srgbClr val="495057"/>
                </a:solidFill>
                <a:latin typeface="Calibri"/>
              </a:rPr>
              <a:t>•  NEM 1 neighbour table: exactly NEMs 2, 5, 6</a:t>
            </a:r>
          </a:p>
          <a:p>
            <a:pPr>
              <a:spcAft>
                <a:spcPts val="1000"/>
              </a:spcAft>
            </a:pPr>
            <a:r>
              <a:rPr sz="1800">
                <a:solidFill>
                  <a:srgbClr val="495057"/>
                </a:solidFill>
                <a:latin typeface="Calibri"/>
              </a:rPr>
              <a:t>•  This schedule: 0.8 % loss (9 slots)</a:t>
            </a:r>
          </a:p>
          <a:p>
            <a:pPr>
              <a:spcAft>
                <a:spcPts val="1000"/>
              </a:spcAft>
            </a:pPr>
            <a:r>
              <a:rPr sz="1800">
                <a:solidFill>
                  <a:srgbClr val="495057"/>
                </a:solidFill>
                <a:latin typeface="Calibri"/>
              </a:rPr>
              <a:t>•  Plain distance-1: 43.1 % loss (4 slots)</a:t>
            </a:r>
          </a:p>
          <a:p>
            <a:pPr>
              <a:spcAft>
                <a:spcPts val="1000"/>
              </a:spcAft>
            </a:pPr>
            <a:r>
              <a:rPr sz="1800">
                <a:solidFill>
                  <a:srgbClr val="495057"/>
                </a:solidFill>
                <a:latin typeface="Calibri"/>
              </a:rPr>
              <a:t>•  1 ms slots need realtime scheduling: 92 / 120 on a laptop, so tests ran at 10 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What the real run taught me</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10</a:t>
            </a:r>
          </a:p>
        </p:txBody>
      </p:sp>
      <p:sp>
        <p:nvSpPr>
          <p:cNvPr id="5" name="TextBox 4"/>
          <p:cNvSpPr txBox="1"/>
          <p:nvPr/>
        </p:nvSpPr>
        <p:spPr>
          <a:xfrm>
            <a:off x="640080" y="1371600"/>
            <a:ext cx="10972800" cy="3200400"/>
          </a:xfrm>
          <a:prstGeom prst="rect">
            <a:avLst/>
          </a:prstGeom>
          <a:noFill/>
        </p:spPr>
        <p:txBody>
          <a:bodyPr wrap="square">
            <a:spAutoFit/>
          </a:bodyPr>
          <a:lstStyle/>
          <a:p>
            <a:pPr>
              <a:spcAft>
                <a:spcPts val="1000"/>
              </a:spcAft>
            </a:pPr>
            <a:r>
              <a:rPr sz="2200">
                <a:solidFill>
                  <a:srgbClr val="495057"/>
                </a:solidFill>
                <a:latin typeface="Calibri"/>
              </a:rPr>
              <a:t>•  PHY profile needs a subid parameter</a:t>
            </a:r>
          </a:p>
          <a:p>
            <a:pPr>
              <a:spcAft>
                <a:spcPts val="1000"/>
              </a:spcAft>
            </a:pPr>
            <a:r>
              <a:rPr sz="2200">
                <a:solidFill>
                  <a:srgbClr val="495057"/>
                </a:solidFill>
                <a:latin typeface="Calibri"/>
              </a:rPr>
              <a:t>•  EEL timestamps reject -Inf; use 0.0</a:t>
            </a:r>
          </a:p>
          <a:p>
            <a:pPr>
              <a:spcAft>
                <a:spcPts val="1000"/>
              </a:spcAft>
            </a:pPr>
            <a:r>
              <a:rPr sz="2200">
                <a:solidFill>
                  <a:srgbClr val="495057"/>
                </a:solidFill>
                <a:latin typeface="Calibri"/>
              </a:rPr>
              <a:t>•  emane --pidfile (not -p, which is realtime priority)</a:t>
            </a:r>
          </a:p>
          <a:p>
            <a:pPr>
              <a:spcAft>
                <a:spcPts val="1000"/>
              </a:spcAft>
            </a:pPr>
            <a:r>
              <a:rPr sz="2200">
                <a:solidFill>
                  <a:srgbClr val="495057"/>
                </a:solidFill>
                <a:latin typeface="Calibri"/>
              </a:rPr>
              <a:t>•  Event service resolves scenario.eel relative to its working directory</a:t>
            </a:r>
          </a:p>
          <a:p>
            <a:pPr>
              <a:spcAft>
                <a:spcPts val="1000"/>
              </a:spcAft>
            </a:pPr>
            <a:r>
              <a:rPr sz="2200">
                <a:solidFill>
                  <a:srgbClr val="495057"/>
                </a:solidFill>
                <a:latin typeface="Calibri"/>
              </a:rPr>
              <a:t>•  Slot length must match what the host can time; the schedule logic is unchanged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Limitations and next steps</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11</a:t>
            </a:r>
          </a:p>
        </p:txBody>
      </p:sp>
      <p:sp>
        <p:nvSpPr>
          <p:cNvPr id="5" name="TextBox 4"/>
          <p:cNvSpPr txBox="1"/>
          <p:nvPr/>
        </p:nvSpPr>
        <p:spPr>
          <a:xfrm>
            <a:off x="640080" y="1371600"/>
            <a:ext cx="10972800" cy="3200400"/>
          </a:xfrm>
          <a:prstGeom prst="rect">
            <a:avLst/>
          </a:prstGeom>
          <a:noFill/>
        </p:spPr>
        <p:txBody>
          <a:bodyPr wrap="square">
            <a:spAutoFit/>
          </a:bodyPr>
          <a:lstStyle/>
          <a:p>
            <a:pPr>
              <a:spcAft>
                <a:spcPts val="1000"/>
              </a:spcAft>
            </a:pPr>
            <a:r>
              <a:rPr sz="2200">
                <a:solidFill>
                  <a:srgbClr val="495057"/>
                </a:solidFill>
                <a:latin typeface="Calibri"/>
              </a:rPr>
              <a:t>•  Unit-disk range model; real RF has fading and capture</a:t>
            </a:r>
          </a:p>
          <a:p>
            <a:pPr>
              <a:spcAft>
                <a:spcPts val="1000"/>
              </a:spcAft>
            </a:pPr>
            <a:r>
              <a:rPr sz="2200">
                <a:solidFill>
                  <a:srgbClr val="495057"/>
                </a:solidFill>
                <a:latin typeface="Calibri"/>
              </a:rPr>
              <a:t>•  One slot per node: weighted colouring for per-node demand</a:t>
            </a:r>
          </a:p>
          <a:p>
            <a:pPr>
              <a:spcAft>
                <a:spcPts val="1000"/>
              </a:spcAft>
            </a:pPr>
            <a:r>
              <a:rPr sz="2200">
                <a:solidFill>
                  <a:srgbClr val="495057"/>
                </a:solidFill>
                <a:latin typeface="Calibri"/>
              </a:rPr>
              <a:t>•  Static positions: incremental recolouring for mobility</a:t>
            </a:r>
          </a:p>
          <a:p>
            <a:pPr>
              <a:spcAft>
                <a:spcPts val="1000"/>
              </a:spcAft>
            </a:pPr>
            <a:r>
              <a:rPr sz="2200">
                <a:solidFill>
                  <a:srgbClr val="495057"/>
                </a:solidFill>
                <a:latin typeface="Calibri"/>
              </a:rPr>
              <a:t>•  Multi-frequency schedules to shorten the frame further</a:t>
            </a:r>
          </a:p>
          <a:p>
            <a:pPr>
              <a:spcAft>
                <a:spcPts val="1000"/>
              </a:spcAft>
            </a:pPr>
            <a:r>
              <a:rPr sz="2200">
                <a:solidFill>
                  <a:srgbClr val="495057"/>
                </a:solidFill>
                <a:latin typeface="Calibri"/>
              </a:rPr>
              <a:t>•  Faithful 1 ms emulation on a realtime-capable host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a:spAutoFit/>
          </a:bodyPr>
          <a:lstStyle/>
          <a:p>
            <a:pPr algn="l">
              <a:spcAft>
                <a:spcPts val="600"/>
              </a:spcAft>
            </a:pPr>
            <a:r>
              <a:rPr sz="3200" b="1">
                <a:solidFill>
                  <a:srgbClr val="142B4D"/>
                </a:solidFill>
                <a:latin typeface="Calibri"/>
              </a:rPr>
              <a:t>Live demo plan</a:t>
            </a:r>
          </a:p>
        </p:txBody>
      </p:sp>
      <p:sp>
        <p:nvSpPr>
          <p:cNvPr id="4" name="TextBox 3"/>
          <p:cNvSpPr txBox="1"/>
          <p:nvPr/>
        </p:nvSpPr>
        <p:spPr>
          <a:xfrm>
            <a:off x="11155680" y="6400800"/>
            <a:ext cx="731520" cy="274320"/>
          </a:xfrm>
          <a:prstGeom prst="rect">
            <a:avLst/>
          </a:prstGeom>
          <a:noFill/>
        </p:spPr>
        <p:txBody>
          <a:bodyPr wrap="square" anchor="t">
            <a:spAutoFit/>
          </a:bodyPr>
          <a:lstStyle/>
          <a:p>
            <a:pPr algn="r">
              <a:spcAft>
                <a:spcPts val="600"/>
              </a:spcAft>
            </a:pPr>
            <a:r>
              <a:rPr sz="1100" b="0">
                <a:solidFill>
                  <a:srgbClr val="495057"/>
                </a:solidFill>
                <a:latin typeface="Calibri"/>
              </a:rPr>
              <a:t>12</a:t>
            </a:r>
          </a:p>
        </p:txBody>
      </p:sp>
      <p:sp>
        <p:nvSpPr>
          <p:cNvPr id="5" name="TextBox 4"/>
          <p:cNvSpPr txBox="1"/>
          <p:nvPr/>
        </p:nvSpPr>
        <p:spPr>
          <a:xfrm>
            <a:off x="640080" y="1371600"/>
            <a:ext cx="6858000" cy="3200400"/>
          </a:xfrm>
          <a:prstGeom prst="rect">
            <a:avLst/>
          </a:prstGeom>
          <a:noFill/>
        </p:spPr>
        <p:txBody>
          <a:bodyPr wrap="square">
            <a:spAutoFit/>
          </a:bodyPr>
          <a:lstStyle/>
          <a:p>
            <a:pPr>
              <a:spcAft>
                <a:spcPts val="1000"/>
              </a:spcAft>
            </a:pPr>
            <a:r>
              <a:rPr sz="1700">
                <a:solidFill>
                  <a:srgbClr val="495057"/>
                </a:solidFill>
                <a:latin typeface="Calibri"/>
              </a:rPr>
              <a:t>•  python schedule_optimizer.py --nodes-file examples/grid_16.json</a:t>
            </a:r>
          </a:p>
          <a:p>
            <a:pPr>
              <a:spcAft>
                <a:spcPts val="1000"/>
              </a:spcAft>
            </a:pPr>
            <a:r>
              <a:rPr sz="1700">
                <a:solidFill>
                  <a:srgbClr val="495057"/>
                </a:solidFill>
                <a:latin typeface="Calibri"/>
              </a:rPr>
              <a:t>•  python emane/slot_sim.py examples/grid_16.schedule.json</a:t>
            </a:r>
          </a:p>
          <a:p>
            <a:pPr>
              <a:spcAft>
                <a:spcPts val="1000"/>
              </a:spcAft>
            </a:pPr>
            <a:r>
              <a:rPr sz="1700">
                <a:solidFill>
                  <a:srgbClr val="495057"/>
                </a:solidFill>
                <a:latin typeface="Calibri"/>
              </a:rPr>
              <a:t>•  python emane/bridge.py ... then inspect tdmaschedule.xml</a:t>
            </a:r>
          </a:p>
          <a:p>
            <a:pPr>
              <a:spcAft>
                <a:spcPts val="1000"/>
              </a:spcAft>
            </a:pPr>
            <a:r>
              <a:rPr sz="1700">
                <a:solidFill>
                  <a:srgbClr val="495057"/>
                </a:solidFill>
                <a:latin typeface="Calibri"/>
              </a:rPr>
              <a:t>•  SLOT_US=10000 sh emane/run_in_docker.sh examples/grid_16.json</a:t>
            </a:r>
          </a:p>
          <a:p>
            <a:pPr>
              <a:spcAft>
                <a:spcPts val="1000"/>
              </a:spcAft>
            </a:pPr>
            <a:r>
              <a:rPr sz="1700">
                <a:solidFill>
                  <a:srgbClr val="495057"/>
                </a:solidFill>
                <a:latin typeface="Calibri"/>
              </a:rPr>
              <a:t>•  python -m pytest -q</a:t>
            </a:r>
          </a:p>
        </p:txBody>
      </p:sp>
      <p:sp>
        <p:nvSpPr>
          <p:cNvPr id="6" name="Rounded Rectangle 5"/>
          <p:cNvSpPr/>
          <p:nvPr/>
        </p:nvSpPr>
        <p:spPr>
          <a:xfrm>
            <a:off x="7955279" y="1645920"/>
            <a:ext cx="3749039" cy="12801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Summary</a:t>
            </a:r>
          </a:p>
          <a:p>
            <a:pPr algn="ctr"/>
            <a:r>
              <a:rPr sz="1900" b="0">
                <a:solidFill>
                  <a:srgbClr val="FFFFFF"/>
                </a:solidFill>
                <a:latin typeface="Calibri"/>
              </a:rPr>
              <a:t>Part 1 complete and verified</a:t>
            </a:r>
          </a:p>
        </p:txBody>
      </p:sp>
      <p:sp>
        <p:nvSpPr>
          <p:cNvPr id="7" name="Rounded Rectangle 6"/>
          <p:cNvSpPr/>
          <p:nvPr/>
        </p:nvSpPr>
        <p:spPr>
          <a:xfrm>
            <a:off x="7955279" y="3200400"/>
            <a:ext cx="3749039" cy="1280160"/>
          </a:xfrm>
          <a:prstGeom prst="roundRect">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Part 2 executed</a:t>
            </a:r>
          </a:p>
          <a:p>
            <a:pPr algn="ctr"/>
            <a:r>
              <a:rPr sz="1900" b="0">
                <a:solidFill>
                  <a:srgbClr val="FFFFFF"/>
                </a:solidFill>
                <a:latin typeface="Calibri"/>
              </a:rPr>
              <a:t>on EMANE 1.5.3</a:t>
            </a:r>
          </a:p>
        </p:txBody>
      </p:sp>
      <p:sp>
        <p:nvSpPr>
          <p:cNvPr id="8" name="Rounded Rectangle 7"/>
          <p:cNvSpPr/>
          <p:nvPr/>
        </p:nvSpPr>
        <p:spPr>
          <a:xfrm>
            <a:off x="7955279" y="4754880"/>
            <a:ext cx="3749039" cy="1280160"/>
          </a:xfrm>
          <a:prstGeom prst="roundRect">
            <a:avLst/>
          </a:prstGeom>
          <a:solidFill>
            <a:srgbClr val="142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Documentation</a:t>
            </a:r>
          </a:p>
          <a:p>
            <a:pPr algn="ctr"/>
            <a:r>
              <a:rPr sz="1900" b="0">
                <a:solidFill>
                  <a:srgbClr val="FFFFFF"/>
                </a:solidFill>
                <a:latin typeface="Calibri"/>
              </a:rPr>
              <a:t>day-wise report + README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